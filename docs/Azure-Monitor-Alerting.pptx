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0B7C3"/>
                </a:solidFill>
                <a:latin typeface="Calibri"/>
              </a:rPr>
              <a:t>AZURE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89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Alerting and monitoring
for production Azure workloads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5D4E4"/>
                </a:solidFill>
                <a:latin typeface="Calibri"/>
              </a:rPr>
              <a:t>How Azure Monitor alerts work, plus a paging baseline for App Service,
Function Apps, AKS, VMs, Container Apps, and databases.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Based on Microsoft Learn  ·  Azure Monitor alerts overview  ·  Recommended operating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What we will walk through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11247120" cy="8686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822960" cy="868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822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453896"/>
            <a:ext cx="9875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Azure Monitor alerts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783080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Rules, signals, action groups, processing rules,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1247120" cy="8686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822960" cy="868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42032"/>
            <a:ext cx="822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414016"/>
            <a:ext cx="9875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Choose the right alert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743200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Metric, log, activity, Prometheus — and when each is cheaper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11247120" cy="8686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822960" cy="868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02152"/>
            <a:ext cx="822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374136"/>
            <a:ext cx="9875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Operate at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03320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Multi-resource rules, Azure Policy, AMBA, RBAC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06240"/>
            <a:ext cx="11247120" cy="8686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822960" cy="868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822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334256"/>
            <a:ext cx="9875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Service paging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663440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App Service, Functions, AKS, VMs, Container Apps, databases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66360"/>
            <a:ext cx="11247120" cy="8686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166360"/>
            <a:ext cx="822960" cy="868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422392"/>
            <a:ext cx="822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294376"/>
            <a:ext cx="9875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What not to page 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623560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Noise, cost, runbooks, and next steps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 / 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Azure Monitor alerts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Microsoft Learn — detect issues before users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657600" cy="48463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73152" cy="48463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35608"/>
            <a:ext cx="33375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64792"/>
            <a:ext cx="3337560" cy="4297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Proactively notify the right people when Azure Monitor data shows infrastructure or application trouble — not after a customer ticket.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25880"/>
            <a:ext cx="3657600" cy="48463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25880"/>
            <a:ext cx="73152" cy="48463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435608"/>
            <a:ext cx="33375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You can alert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764792"/>
            <a:ext cx="3337560" cy="4297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Any metric or log in the Azure Monitor data platform: platform metrics, custom metrics, App Insights, Log Analytics, activity log, and Prometheus in Azure Monitor Workspace.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566160" cy="48463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73152" cy="48463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435608"/>
            <a:ext cx="3246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764792"/>
            <a:ext cx="3246120" cy="4297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Fired alert instances are stored 30 days, then deleted. Instances are read-only. Configuration changes apply only to future alerts.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 / 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an alert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Alert rule = resource + signal + condition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2194560" cy="32461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19456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1. 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19202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The Azure resource (or many of the same type) you monitor.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417320"/>
            <a:ext cx="2194560" cy="32461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80" y="1417320"/>
            <a:ext cx="219456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69164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2.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60320"/>
            <a:ext cx="19202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Metric, log query, activity event, or PromQL time series.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417320"/>
            <a:ext cx="2194560" cy="32461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417320"/>
            <a:ext cx="219456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69164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3. 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560320"/>
            <a:ext cx="19202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Threshold, dynamic threshold, or query result that means “problem.”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417320"/>
            <a:ext cx="2194560" cy="32461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417320"/>
            <a:ext cx="219456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69164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4. Alert fires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560320"/>
            <a:ext cx="19202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Evaluated per resource. Starts action groups and sets condition to Fired.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1417320"/>
            <a:ext cx="2194560" cy="32461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1417320"/>
            <a:ext cx="219456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69164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5. Act +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560320"/>
            <a:ext cx="19202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Notify, automate, acknowledge. Optional Copilot / Issues investigation.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92040"/>
            <a:ext cx="112471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B1B1B"/>
                </a:solidFill>
                <a:latin typeface="Calibri"/>
              </a:rPr>
              <a:t>If one rule monitors multiple resources, the condition is evaluated separately for each resource, and a separate alert fires for each. That is how you get resource-centric paging without duplicating rules by hand.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 / 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Four parts of a fired 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From the Azure Monitor alerts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11430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" cy="1143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10607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Action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Who/what is notified. Email, SMS, push, webhook, secure webhook, Event Hub, Logic App, Function, Automation runbook, ITSM.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14600"/>
            <a:ext cx="11247120" cy="11430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109728" cy="1143000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79192"/>
            <a:ext cx="10607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Alert condition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System-owned. Fired while the problem is true. Resolved when the underlying condition clears (stateful rules).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40"/>
            <a:ext cx="11247120" cy="11430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40"/>
            <a:ext cx="109728" cy="1143000"/>
          </a:xfrm>
          <a:prstGeom prst="rect">
            <a:avLst/>
          </a:prstGeom>
          <a:solidFill>
            <a:srgbClr val="5C2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13632"/>
            <a:ext cx="10607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User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Operator-owned. New → Acknowledged → Closed. Independent of Fired/Resolved.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83480"/>
            <a:ext cx="11247120" cy="11430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983480"/>
            <a:ext cx="109728" cy="1143000"/>
          </a:xfrm>
          <a:prstGeom prst="rect">
            <a:avLst/>
          </a:prstGeom>
          <a:solidFill>
            <a:srgbClr val="C4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48072"/>
            <a:ext cx="10607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Processing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Mutate the alert as it fires: add or suppress action groups, filter, or apply a maintenance schedule.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 / 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Action groups — notify or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Attach one group per severity. Reuse them on every rule.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743200"/>
                <a:gridCol w="5669280"/>
              </a:tblGrid>
              <a:tr h="6705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 for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Email / SMS / push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Human notification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Keep Sev0 lists tiny. SMS is a last-mile page, not a distribution list.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Webhook / secure webhook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PagerDuty, Opsgenie, Slack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Preferred on-call path. Secure webhook for auth.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ITSM connector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Incident ticket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Sev2 and security queues — not 2am pages.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Logic App / Function / Runbook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Auto-mitigate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Restart, scale, drain. Always idempotent and logged.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Event Hub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Fan-out to SIEM / custom bus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Good when many downstream consumers need the same alert.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Recommendation: Sev0/Sev1 → PagerDuty. Sev2 → Teams + ticket. Never put a 20-person email list on a paging rule.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 / 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Alert processing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Change behavior at fire-time without editing every alert rule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440680" cy="2148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73152" cy="21488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3560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Suppress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64792"/>
            <a:ext cx="512064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Mute notifications during a planned maintenance window. Do not disable the alert rule — you still want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440680" cy="2148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21488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43560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Add action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764792"/>
            <a:ext cx="512064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Route a subset of alerts to an extra team (security, DBAs) without cloning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03320"/>
            <a:ext cx="5440680" cy="2148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73152" cy="21488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81304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42232"/>
            <a:ext cx="512064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Match on resource, alert rule, severity, or signal so one processing rule covers a class of alerts.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03320"/>
            <a:ext cx="5440680" cy="2148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73152" cy="21488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81304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4142232"/>
            <a:ext cx="512064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Nightly suppressions, weekend Sev2-only, or region-specific windows.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 / 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Alert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Pick the cheapest signal that still answers the question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  <a:gridCol w="3291840"/>
              </a:tblGrid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to use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 driver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Pre-aggregated platform/custom/App Insights metrics. Little or no KQL needed.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Time series monitored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Log search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Need KQL, joins, or logic that metrics cannot express.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Query frequency (+ dimensions)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Simple log search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Near real-time, row-by-row (failed backup, Windows event, each error).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Billed like 1-min log alerts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Activity log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Create/delete/restart, RBAC changes. Includes Resource Health and Service Health.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See Azure Monitor pricing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Smart detection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App Insights anomaly modules. Tune before you page on them.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App Insights resource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Prometheus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AKS / OpenTelemetry metrics in Azure Monitor Workspace. PromQL.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Data queried by the rule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 / 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Decision: which alert type?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Default to metric. Escalate to logs or PromQL only when you must.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Calibri"/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If the number already exists as a metric (Http5xx, CPU, RU, ReplicaCount) → metric alert. Faster and usually cheaper.</a:t>
            </a:r>
          </a:p>
          <a:p>
            <a:pPr algn="l">
              <a:buChar char="•"/>
              <a:buFont typeface="Calibri"/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If you need “5xx rate over requests” or KQL across tables → log search, or convert logs to metrics first.</a:t>
            </a:r>
          </a:p>
          <a:p>
            <a:pPr algn="l">
              <a:buChar char="•"/>
              <a:buFont typeface="Calibri"/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If it is an Azure control-plane event (delete VM, stop web app) → activity log. Always enable Service Health + Resource Health.</a:t>
            </a:r>
          </a:p>
          <a:p>
            <a:pPr algn="l">
              <a:buChar char="•"/>
              <a:buFont typeface="Calibri"/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If it is Kubernetes / PromQL (CrashLoop, NodeNotReady, HPA) → Prometheus alerts on Azure Monitor Workspace.</a:t>
            </a:r>
          </a:p>
          <a:p>
            <a:pPr algn="l">
              <a:buChar char="•"/>
              <a:buFont typeface="Calibri"/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If it is one row that must page immediately (backup failed) → simple log search.</a:t>
            </a:r>
          </a:p>
          <a:p>
            <a:pPr algn="l">
              <a:buChar char="•"/>
              <a:buFont typeface="Calibri"/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Query-based metric alerts (preview) sit between Prometheus rule groups and ARM metric alerts for PromQL/OTel in a workspace.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 / 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Stateful vs stateless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This decides how noisy on-call will 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532120" cy="36576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73152" cy="36576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35608"/>
            <a:ext cx="5212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Stateful (default for metric)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64792"/>
            <a:ext cx="5212080" cy="3108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Fires once when the condition becomes true. Does not re-page until resolved. Resolved notification via email/webhook. Metric: resolved after 3 consecutive healthy checks. Log search: resolved after 1–3 frequency periods depending on interval. Use this for paging.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532120" cy="36576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73152" cy="3657600"/>
          </a:xfrm>
          <a:prstGeom prst="rect">
            <a:avLst/>
          </a:prstGeom>
          <a:solidFill>
            <a:srgbClr val="C4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35608"/>
            <a:ext cx="5212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Stateless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64792"/>
            <a:ext cx="5212080" cy="3108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Fires every time the condition is met. Activity log alerts are always stateless. Stateless metric alerts re-notify on a sliding window (about 1–2× the frequency). Use for audit-style events, not for a flapping CPU graph.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66360"/>
            <a:ext cx="11247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B1B1B"/>
                </a:solidFill>
                <a:latin typeface="Calibri"/>
              </a:rPr>
              <a:t>Each rule is evaluated independently. Two rules on the same condition both fire — Azure does not de-duplicate. That is why a shared baseline (or AMBA) beats copy-paste rules.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 / 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Alerting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Microsoft’s options — pick one operating model, not all of them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4114800"/>
              </a:tblGrid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Advantage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Watch-out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One metric rule, many resources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Same type + same region. One notification per resource.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Charged per time series. Not all resource types support this.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Log search + split by dimensions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One workspace query, alert per resourceId.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Dimension cardinality = cost. Scope the KQL.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ARM / CLI / Bicep clones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Works when multi-resource metric alerts are unsupported.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Rule sprawl. Own it in Git.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Azure Policy + AMBA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Azure Monitor Baseline Alerts — fleet coverage.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 large rule set to maintain. Tune before paging.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Portal “recommended alerts” exist today for VMs, AKS, and Log Analytics workspaces. Treat them as a start, then overlay the paging baseline in this deck.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 / 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Access and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You cannot manage alerts on resources you cannot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532120" cy="47548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73152" cy="47548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35608"/>
            <a:ext cx="5212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RBAC to create a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64792"/>
            <a:ext cx="5212080" cy="4206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Read on the target resource. Write on the resource group that will hold the rule (portal defaults to the target’s group). Read on the action group. Built-in: Monitoring Contributor (create) and Monitoring Reader (view). If the action group lives in another subscription, grant that scope separately.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532120" cy="47548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73152" cy="4754880"/>
          </a:xfrm>
          <a:prstGeom prst="rect">
            <a:avLst/>
          </a:prstGeom>
          <a:solidFill>
            <a:srgbClr val="C4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35608"/>
            <a:ext cx="5212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What you actually pay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64792"/>
            <a:ext cx="5212080" cy="4206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Metric alerts: time series. Log search: evaluation frequency (and split dimensions). Simple log: priced like 1-minute log alerts. Prometheus: data the rule queries. Log ingest is often larger than the alert rule itself — verbose container stdout is the usual bill shock. Prefer metrics for paging.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 / 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B7C3"/>
                </a:solidFill>
                <a:latin typeface="Calibri"/>
              </a:rPr>
              <a:t>PART 2 — OUR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What we page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058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5D4E4"/>
                </a:solidFill>
                <a:latin typeface="Calibri"/>
              </a:rPr>
              <a:t>Azure gives you the mechanism. This is the operating model: symptoms first, infrastructure second, a small Sev0 list, a runbook on every page.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 / 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One rule for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If the only response is “watch the dashboard,” it is not a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A page must be actionable at 2am and map to a user-visible or data-plane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88920"/>
            <a:ext cx="2743200" cy="32461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788920"/>
            <a:ext cx="2743200" cy="91440"/>
          </a:xfrm>
          <a:prstGeom prst="rect">
            <a:avLst/>
          </a:prstGeom>
          <a:solidFill>
            <a:srgbClr val="C5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01752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50F1F"/>
                </a:solidFill>
                <a:latin typeface="Calibri"/>
              </a:rPr>
              <a:t>Sev0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29000"/>
            <a:ext cx="2423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Outage — page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977639"/>
            <a:ext cx="24231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Availability failed, 5xx SLO burn, resource down, storage full, replica broken.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788920"/>
            <a:ext cx="2743200" cy="32461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788920"/>
            <a:ext cx="2743200" cy="91440"/>
          </a:xfrm>
          <a:prstGeom prst="rect">
            <a:avLst/>
          </a:prstGeom>
          <a:solidFill>
            <a:srgbClr val="C4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301752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C47A00"/>
                </a:solidFill>
                <a:latin typeface="Calibri"/>
              </a:rPr>
              <a:t>Sev1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429000"/>
            <a:ext cx="2423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Degraded — page / 15m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3977639"/>
            <a:ext cx="24231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Latency vs SLO, CrashLoop, connection saturation, backup failed, unschedulable pods.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88920"/>
            <a:ext cx="2743200" cy="32461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788920"/>
            <a:ext cx="2743200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01752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078D4"/>
                </a:solidFill>
                <a:latin typeface="Calibri"/>
              </a:rPr>
              <a:t>Sev2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29000"/>
            <a:ext cx="2423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Ticket, business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977639"/>
            <a:ext cx="24231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Capacity, HPA at max with healthy SLIs, throttling trend, disk IOPS near SKU.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788920"/>
            <a:ext cx="2743200" cy="32461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2788920"/>
            <a:ext cx="2743200" cy="9144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301752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5A5A5A"/>
                </a:solidFill>
                <a:latin typeface="Calibri"/>
              </a:rPr>
              <a:t>Sev3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429000"/>
            <a:ext cx="2423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Dashboard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3977639"/>
            <a:ext cx="24231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Deploy events, autoscale, CPU with healthy errors/latency, Smart Detection until tuned.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 / 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Platform spine — enable this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Alerts on a resource with no telemetry are theater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40680" cy="14630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988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Azure Monitor + Log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One workspace per environment (or hub-spoke with table RBAC). Diagnostic settings on every production resource.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40680" cy="14630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38988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Application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719072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Workspace-based. OpenTelemetry in app code. Availability tests from 3+ geos for HTTP surfaces.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80360"/>
            <a:ext cx="5440680" cy="14630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9008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Managed Prometheus + Grafana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19272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Default for AKS. Azure Monitor Workspace — do not host Prometheus inside the cluster you are debugging.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80360"/>
            <a:ext cx="5440680" cy="14630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880360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299008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Azure Monitor Agent + DCRs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319272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VMs and Arc. Retire classic diagnostics. Collect guest CPU, disk, memory, and a tight log set.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5440680" cy="14630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59028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Action groups + processing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919472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One group per severity. Maintenance = processing rule, not a disabled alert.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80560"/>
            <a:ext cx="5440680" cy="14630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480560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459028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Workbooks + Grafana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919472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Diagnosis lives here. Paging does not. Attach a runbook URL on every Sev0/Sev1 rule.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 / 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App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App Insights + metric alerts + availability tests. Page on availability and 5xx, not CPU.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61872"/>
          <a:ext cx="11521439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880360"/>
                <a:gridCol w="3383280"/>
                <a:gridCol w="914400"/>
                <a:gridCol w="1874519"/>
              </a:tblGrid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to fire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Availability test failed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App Insights availability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Failed from 2+ locations for 5m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50F1F"/>
                          </a:solidFill>
                          <a:latin typeface="Calibri"/>
                        </a:rPr>
                        <a:t>Sev0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Availability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HTTP 5xx rate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Http5xx / requests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&gt; 2% for 5m (min 20 req)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50F1F"/>
                          </a:solidFill>
                          <a:latin typeface="Calibri"/>
                        </a:rPr>
                        <a:t>Sev0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p95 latency vs SLO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requests/duration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p95 &gt; SLO for 10m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App Insights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Dependency failures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dependencies/failed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&gt; 5% to SQL/Redis/HTTP for 5m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App Insights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Instance restart loop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Health check + restarts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Unhealthy or &gt; 3 restarts / 15m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 + log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Queue / saturation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HttpQueueLength, CPU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Queue &gt; 100 or CPU &gt; 85% at max scale 15m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78D4"/>
                          </a:solidFill>
                          <a:latin typeface="Calibri"/>
                        </a:rPr>
                        <a:t>Sev2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 / 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Function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Failures hide in the trigger. Alert on execution failures, timeouts, and poison queues.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61872"/>
          <a:ext cx="11521439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880360"/>
                <a:gridCol w="3383280"/>
                <a:gridCol w="914400"/>
                <a:gridCol w="1874519"/>
              </a:tblGrid>
              <a:tr h="8458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to fire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8458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Function failure rate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requests/failed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&gt; 2% or &gt; N failures / 5m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50F1F"/>
                          </a:solidFill>
                          <a:latin typeface="Calibri"/>
                        </a:rPr>
                        <a:t>Sev0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App Insights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8458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Duration near timeout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requests/duration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p95 &gt; 80% of functionTimeout for 10m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App Insights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8458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Poison / dead-letter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Queue or Service Bus DLQ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DLQ depth &gt; 0 for 10m or increasing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8458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Source lag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Event Hub incoming vs outgoing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Lag above SLO for 15m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8458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Throttling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429s / OnDemandCallback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Sustained 429s for 10m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78D4"/>
                          </a:solidFill>
                          <a:latin typeface="Calibri"/>
                        </a:rPr>
                        <a:t>Sev2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 + log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 / 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Managed Prometheus + Container Insights + app SLIs. Cluster health tells you the platform is sick; it does not tell you checkout is failing.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61872"/>
          <a:ext cx="11521439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880360"/>
                <a:gridCol w="3383280"/>
                <a:gridCol w="914400"/>
                <a:gridCol w="1874519"/>
              </a:tblGrid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to fire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App SLI failing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5xx or /healthz 503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Error rate &gt; SLO for 3–5m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50F1F"/>
                          </a:solidFill>
                          <a:latin typeface="Calibri"/>
                        </a:rPr>
                        <a:t>Sev0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Prom / App Insights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Node NotReady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kube_node_status_condition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NotReady for 5m (not scale-in)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50F1F"/>
                          </a:solidFill>
                          <a:latin typeface="Calibri"/>
                        </a:rPr>
                        <a:t>Sev0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Prometheus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CrashLoop / OOMKilled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pod waiting / restarts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On a Deployment for 10m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Prometheus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Pods unschedulable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Pending phase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Pending &gt; 5m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Prometheus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Replica mismatch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kube_deployment_status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Available &lt; desired for 10m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Prometheus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Volume filling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kubelet_volume_stats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&gt; 85% for 15m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Prometheus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HPA at max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HPA status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Current = max 20m AND latency/errors up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78D4"/>
                          </a:solidFill>
                          <a:latin typeface="Calibri"/>
                        </a:rPr>
                        <a:t>Sev2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Prometheus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 / 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Virtual Machines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Azure Monitor Agent + VM Insights + Resource Health. Heartbeat is the paging alert.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61872"/>
          <a:ext cx="11521439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880360"/>
                <a:gridCol w="3383280"/>
                <a:gridCol w="914400"/>
                <a:gridCol w="1874519"/>
              </a:tblGrid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to fire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Heartbeat missing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Heartbeat / Resource Health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No heartbeat for 5m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50F1F"/>
                          </a:solidFill>
                          <a:latin typeface="Calibri"/>
                        </a:rPr>
                        <a:t>Sev0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Log + RH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Disk space critical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Logical disk % free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&lt; 10% on OS or data disk for 10m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Memory pressure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Available memory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&lt; 10% for 15m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Backup job failed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Recovery Services vault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Any failed backup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Activity / metric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Disk IOPS / latency cap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OS disk consumed %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Near SKU cap for 15m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78D4"/>
                          </a:solidFill>
                          <a:latin typeface="Calibri"/>
                        </a:rPr>
                        <a:t>Sev2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CPU saturation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Percentage CPU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&gt; 90% for 20m on a non-autoscaled VM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78D4"/>
                          </a:solidFill>
                          <a:latin typeface="Calibri"/>
                        </a:rPr>
                        <a:t>Sev2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 / 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Container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Log Analytics + App Insights + replica metrics. Scale-to-zero makes naive CPU alerts useless.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61872"/>
          <a:ext cx="11521439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880360"/>
                <a:gridCol w="3383280"/>
                <a:gridCol w="914400"/>
                <a:gridCol w="1874519"/>
              </a:tblGrid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to fire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HTTP 5xx rate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Requests 5xx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&gt; 2% for 5m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50F1F"/>
                          </a:solidFill>
                          <a:latin typeface="Calibri"/>
                        </a:rPr>
                        <a:t>Sev0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Replicas below min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ReplicaCount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&lt; minReplicas for 5m (if min &gt; 0)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50F1F"/>
                          </a:solidFill>
                          <a:latin typeface="Calibri"/>
                        </a:rPr>
                        <a:t>Sev0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Revision failed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System logs / revision status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New revision not provisioning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Log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Replica restarts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ReplicaRestartCount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&gt; 3 restarts / 10m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p95 latency vs SLO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Request duration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p95 &gt; SLO for 10m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 / AI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Memory near limit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Working set / limit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&gt; 85% for 15m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78D4"/>
                          </a:solidFill>
                          <a:latin typeface="Calibri"/>
                        </a:rPr>
                        <a:t>Sev2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 / 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Azure SQL, Flexible Server Postgres/MySQL, Cosmos, Redis. Page on connectivity, storage, and replication — not CPU alone.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61872"/>
          <a:ext cx="11521439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880360"/>
                <a:gridCol w="3383280"/>
                <a:gridCol w="914400"/>
                <a:gridCol w="1874519"/>
              </a:tblGrid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to fire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Connectivity failed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Failed connections + app deps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Sustained failures for 5m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50F1F"/>
                          </a:solidFill>
                          <a:latin typeface="Calibri"/>
                        </a:rPr>
                        <a:t>Sev0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 + AI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Storage full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storage_percent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&gt; 90% (page at 95%)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50F1F"/>
                          </a:solidFill>
                          <a:latin typeface="Calibri"/>
                        </a:rPr>
                        <a:t>Sev0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Replica / HA broken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Replication lag / failover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Lag &gt; RPO or replica unhealthy 5m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50F1F"/>
                          </a:solidFill>
                          <a:latin typeface="Calibri"/>
                        </a:rPr>
                        <a:t>Sev0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Connection saturation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Active / max connections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&gt; 80% for 10m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Throttle / 429 / DTU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DTU %, RU 429s, IOPS cap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&gt; 80% or 429 burst for 10m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249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Backup failed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Automated backup / vault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Any failed backup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47A00"/>
                          </a:solidFill>
                          <a:latin typeface="Calibri"/>
                        </a:rPr>
                        <a:t>Sev1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Activity / metric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 / 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Always-on subscription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Enable these before the first app alert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4114800"/>
              </a:tblGrid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Routing</a:t>
                      </a:r>
                    </a:p>
                  </a:txBody>
                  <a:tcPr anchor="ctr">
                    <a:solidFill>
                      <a:srgbClr val="0B1F3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Service Health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Azure incident on your services / regions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Sev1 notify — confirm customer impact before a full page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Resource Health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Platform declares the resource down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Sev0 if it is a production resource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Activity Log — destructive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Delete, stop, NSG change, role assignment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Sev1 for production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Defender for Cloud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Suspicious process, exposed management ports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Security on-call, not app on-call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Budget / ingest anomaly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Log Analytics spike, runaway Functions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Sev2 platform / finance</a:t>
                      </a:r>
                    </a:p>
                  </a:txBody>
                  <a:tcPr anchor="ctr">
                    <a:solidFill>
                      <a:srgbClr val="F3F6FA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Certificate expiry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Key Vault, App Gateway, Ingress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Sev1 at 14 days, Sev0 at 3 days</a:t>
                      </a:r>
                    </a:p>
                  </a:txBody>
                  <a:tcPr anchor="ctr">
                    <a:solidFill>
                      <a:srgbClr val="FFFFFF"/>
                    </a:solidFill>
                    <a:tcMar>
                      <a:left w="72000"/>
                      <a:right w="72000"/>
                      <a:top w="36000"/>
                      <a:bottom w="36000"/>
                    </a:tcMar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 / 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Do not page on these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They belong on a workbook or a Sev2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10515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0B1F3A"/>
                </a:solidFill>
                <a:latin typeface="Calibri"/>
              </a:rPr>
              <a:t>CPU high while latency and error rate are healthy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5486400" cy="10515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0B1F3A"/>
                </a:solidFill>
                <a:latin typeface="Calibri"/>
              </a:rPr>
              <a:t>Individual 4xx (clients, bots, bad tokens)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40"/>
            <a:ext cx="5486400" cy="10515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6908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0B1F3A"/>
                </a:solidFill>
                <a:latin typeface="Calibri"/>
              </a:rPr>
              <a:t>A single pod restart that recovered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5486400" cy="10515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25780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0B1F3A"/>
                </a:solidFill>
                <a:latin typeface="Calibri"/>
              </a:rPr>
              <a:t>Autoscaler scale-out / scale-in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486400" cy="10515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0B1F3A"/>
                </a:solidFill>
                <a:latin typeface="Calibri"/>
              </a:rPr>
              <a:t>App Insights Smart Detection until it is tuned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560320"/>
            <a:ext cx="5486400" cy="10515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8036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0B1F3A"/>
                </a:solidFill>
                <a:latin typeface="Calibri"/>
              </a:rPr>
              <a:t>Info / verbose 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40"/>
            <a:ext cx="5486400" cy="10515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06908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0B1F3A"/>
                </a:solidFill>
                <a:latin typeface="Calibri"/>
              </a:rPr>
              <a:t>Deployment started (alert on failed deploy only)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937760"/>
            <a:ext cx="5486400" cy="10515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25780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0B1F3A"/>
                </a:solidFill>
                <a:latin typeface="Calibri"/>
              </a:rPr>
              <a:t>HPA at max with no SLO burn — that is capacity planning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23  / 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we keep this from rotting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Noise and cost kill alerting programs, not missing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61872"/>
            <a:ext cx="5440680" cy="14630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SLI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Static thresholds on error rate and availability. Dynamic thresholds only for seasonal traffic — not for “CPU looks spiky.”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61872"/>
            <a:ext cx="5440680" cy="14630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61872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371600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For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700784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Every paging rule needs a 3–10 minute pending window so deploys and blips do not flap.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62072"/>
            <a:ext cx="5440680" cy="14630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62072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71800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Runbook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00984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No Sev0/Sev1 without an owner and a runbook. If nobody knows the next click, delete the alert.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62072"/>
            <a:ext cx="5440680" cy="14630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862072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2971800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Composite when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300984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Page when 5xx AND availability fail, or HPA maxed AND latency over SLO — not on each signal alone.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62272"/>
            <a:ext cx="5440680" cy="14630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62272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572000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Logs are a bill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901184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Basic Logs for verbose traces. Analytics tables only for queries that back alerts. Cap container stdout.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62272"/>
            <a:ext cx="5440680" cy="14630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462272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4572000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Git as source of truth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901184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Bicep/Terraform/AMBA in Git. Portal clicks for experiments only.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24  / 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Mechanism from Microsoft. Judgment is 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7772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40080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71600"/>
            <a:ext cx="10149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Detect early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64208"/>
            <a:ext cx="10149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Alert on Azure Monitor data before users open a ticket.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21408"/>
            <a:ext cx="11247120" cy="7772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21408"/>
            <a:ext cx="640080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22576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212848"/>
            <a:ext cx="10149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Prefer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505456"/>
            <a:ext cx="10149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Log and PromQL when the question needs them — not by default.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62656"/>
            <a:ext cx="11247120" cy="7772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62656"/>
            <a:ext cx="640080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63824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054096"/>
            <a:ext cx="10149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Symptoms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346704"/>
            <a:ext cx="10149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Availability, errors, latency, data-plane failure. CPU is a clue.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03904"/>
            <a:ext cx="11247120" cy="7772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03904"/>
            <a:ext cx="640080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050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95344"/>
            <a:ext cx="10149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Small Sev0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187952"/>
            <a:ext cx="10149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Action groups by severity. Processing rules for maintenance.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45152"/>
            <a:ext cx="11247120" cy="7772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645152"/>
            <a:ext cx="640080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4632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36592"/>
            <a:ext cx="10149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AKS 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029200"/>
            <a:ext cx="10149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App SLI + cluster health. Managed Prometheus, not DIY in-cluster.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486400"/>
            <a:ext cx="11247120" cy="7772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486400"/>
            <a:ext cx="640080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687568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577840"/>
            <a:ext cx="10149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Always-on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870448"/>
            <a:ext cx="10149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Service Health, Resource Health, activity log, certs, backups.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25  / 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Suggested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Something you can execute after this meeting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10972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Workspace, App Insights, diagnostic settings, AMA/DCRs, Action Groups, Service/Resource Health.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11247120" cy="10972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109728" cy="10972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2491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Availability tests + 5xx/latency SLOs on every HTTP surface. Heartbeat on VMs. DB storage + connectivity.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40"/>
            <a:ext cx="11247120" cy="10972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40"/>
            <a:ext cx="109728" cy="10972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1363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AKS: managed Prometheus, NodeNotReady, CrashLoop, unschedulable, volume, app /healthz.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37760"/>
            <a:ext cx="11247120" cy="10972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109728" cy="10972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0235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Week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AMBA or Policy for fleet coverage. Mute noisy rules. Attach runbooks. Review pages in standup.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26  / 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4C7DC"/>
                </a:solidFill>
                <a:latin typeface="Calibri"/>
              </a:rPr>
              <a:t>Source material for this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Calibri"/>
              <a:spcAft>
                <a:spcPts val="14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Overview of Azure Monitor alerts — learn.microsoft.com/azure/azure-monitor/alerts/alerts-overview</a:t>
            </a:r>
          </a:p>
          <a:p>
            <a:pPr algn="l">
              <a:buChar char="•"/>
              <a:buFont typeface="Calibri"/>
              <a:spcAft>
                <a:spcPts val="14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Types of Azure Monitor alerts — learn.microsoft.com/azure/azure-monitor/alerts/alerts-types</a:t>
            </a:r>
          </a:p>
          <a:p>
            <a:pPr algn="l">
              <a:buChar char="•"/>
              <a:buFont typeface="Calibri"/>
              <a:spcAft>
                <a:spcPts val="14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Azure Monitor Baseline Alerts (AMBA) — aka.ms/amba</a:t>
            </a:r>
          </a:p>
          <a:p>
            <a:pPr algn="l">
              <a:buChar char="•"/>
              <a:buFont typeface="Calibri"/>
              <a:spcAft>
                <a:spcPts val="14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Azure Monitor pricing — azure.microsoft.com/pricing/details/monitor/</a:t>
            </a:r>
          </a:p>
          <a:p>
            <a:pPr algn="l">
              <a:buChar char="•"/>
              <a:buFont typeface="Calibri"/>
              <a:spcAft>
                <a:spcPts val="14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Recommended alert rules in portal — VMs, AKS, Log Analytics workspaces</a:t>
            </a:r>
          </a:p>
          <a:p>
            <a:pPr algn="l">
              <a:buChar char="•"/>
              <a:buFont typeface="Calibri"/>
              <a:spcAft>
                <a:spcPts val="14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Internal baseline — paging tables in this deck for App Service, Functions, AKS, VMs, Container Apps, databases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10241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Monitor alerting  |  Microsoft Learn + recommended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620256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27  / 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